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F3A5F"/>
                </a:solidFill>
                <a:latin typeface="Calibri"/>
              </a:rPr>
              <a:t>CVN C5IMP Modernization SharePoint Administrative Tool Suite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595959"/>
                </a:solidFill>
              </a:rPr>
              <a:t>SharePoint Design Brief for Leadership and Site-Owner Approval</a:t>
            </a:r>
          </a:p>
          <a:p>
            <a:r>
              <a:rPr sz="1600">
                <a:solidFill>
                  <a:srgbClr val="595959"/>
                </a:solidFill>
              </a:rPr>
              <a:t>Aircraft Carrier C5I Modernization Program (C5IMP)</a:t>
            </a:r>
          </a:p>
          <a:p>
            <a:r>
              <a:rPr sz="1600">
                <a:solidFill>
                  <a:srgbClr val="595959"/>
                </a:solidFill>
              </a:rPr>
              <a:t>[Prepared by: Name / Code]  |  [DD MMM YYYY]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Establish a single SharePoint site as the authoritative administrative backbone for CVN C5I modernization.</a:t>
            </a:r>
          </a:p>
          <a:p>
            <a:pPr lvl="1"/>
            <a:r>
              <a:rPr sz="1700">
                <a:latin typeface="Calibri"/>
              </a:rPr>
              <a:t>Centralized modernization control: one master tracker, one baseline register, one action list.</a:t>
            </a:r>
          </a:p>
          <a:p>
            <a:pPr lvl="1"/>
            <a:r>
              <a:rPr sz="1700">
                <a:latin typeface="Calibri"/>
              </a:rPr>
              <a:t>Governance discipline: battle rhythm, agendas, minutes, and CCB packages in one controlled location.</a:t>
            </a:r>
          </a:p>
          <a:p>
            <a:pPr lvl="1"/>
            <a:r>
              <a:rPr sz="1700">
                <a:latin typeface="Calibri"/>
              </a:rPr>
              <a:t>Decision traceability: every decision indexed, linked to its record, rationale, and follow-on actions.</a:t>
            </a:r>
          </a:p>
          <a:p>
            <a:pPr lvl="1"/>
            <a:r>
              <a:rPr sz="1700">
                <a:latin typeface="Calibri"/>
              </a:rPr>
              <a:t>Readiness alignment: assessment results visible to TYCOM and Ship's Force at each milestone gate.</a:t>
            </a:r>
          </a:p>
          <a:p>
            <a:pPr lvl="1"/>
            <a:r>
              <a:rPr sz="1700">
                <a:latin typeface="Calibri"/>
              </a:rPr>
              <a:t>NAVSEA/TYCOM coordination: shared, permissioned visibility across acquisition and fleet stakeholders.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  <a:latin typeface="Calibri"/>
              </a:rPr>
              <a:t>User Communities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6017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052"/>
                <a:gridCol w="5730087"/>
                <a:gridCol w="2292035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Community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Primary Need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Typical Access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TYCOM N6 / N43 / 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Readiness governance,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Edit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NAVSEA Carrier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Integration engineering, alteration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Edit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PEO Carriers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Platform acquisition coordination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Contribute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PEO C4I / PMW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System fielding, ILS, install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Contribute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Ship's Force C5I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Impact awareness, readiness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Read (+ scoped input)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RMC / Shipyard / Installation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Availability execution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Contribute (scoped)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Fleet staff [Placeholder]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Schedule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Program office action officers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Trackers, intake,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Edit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Operational Problem - Current Administrative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Scattered files: program artifacts spread across email, shared drives, and personal folders.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Inconsistent trackers: multiple competing spreadsheets with conflicting status for the same items.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Poor decision traceability: decisions buried in minutes and email threads; rationale and conditions lost.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Weak configuration visibility: installed versus documented baseline unclear by hull.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Unclear ownership: actions assigned verbally, not tracked to closure.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Fragmented modernization status: every status request triggers a manual data call to multiple organizations.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  <a:latin typeface="Calibri"/>
              </a:rPr>
              <a:t>Proposed SharePoint Information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6017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052"/>
                <a:gridCol w="8022122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Orientation, news, battle rhythm, key POCs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Modernization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Status rollups, hot items, future Power BI placeholder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Intake and Change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Submit and track proposed changes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Configuration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Approved baseline and change posture by hull/system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Availability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Work packages, access, testing, turnover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Risks / Issues /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Registers and burn-down views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Governance and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Calendar, agendas, minutes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Decisions and CCB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Decision log, records, CCB packages (restricted)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Readiness Assessments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Hull/system readiness results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References and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All controlled templates and references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Lessons Learned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After Action Reports and search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  <a:latin typeface="Calibri"/>
              </a:rPr>
              <a:t>Recommended Libraries and Lists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6017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349"/>
                <a:gridCol w="4044767"/>
                <a:gridCol w="3820058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Library / List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Holds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Control Features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Program Documents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Charters, SOPs, 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Major versions, check-out, approval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Templates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Blank templates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Read-only for users; owner-managed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Modernization Tracker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Authoritative Excel trackers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Browser editing; version history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Configuration Baseline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Baseline register, 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CM-staff edit only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Decision Records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Completed decision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Unique permissions (restricted group)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Meeting Records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Agendas, read-aheads,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Filed by series and date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Risk and Action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Risk and action items for web part 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Filtered views, conditional formatting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Stakeholder Directory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POC roster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Feeds People web parts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/>
                        <a:t>Lessons Learned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After Action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Metadata-driven search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Metadata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Site columns applied consistently across libraries and lists - metadata drives every view and dashboard.</a:t>
            </a:r>
          </a:p>
          <a:p>
            <a:pPr lvl="1"/>
            <a:r>
              <a:rPr sz="1700">
                <a:latin typeface="Calibri"/>
              </a:rPr>
              <a:t>Hull  |  System Category  |  Program Office  |  Document Type  |  Status</a:t>
            </a:r>
          </a:p>
          <a:p>
            <a:pPr lvl="1"/>
            <a:r>
              <a:rPr sz="1700">
                <a:latin typeface="Calibri"/>
              </a:rPr>
              <a:t>Decision Authority  |  Availability  |  Fiscal Year  |  Owner  |  Review Date  |  Last Updated</a:t>
            </a:r>
          </a:p>
          <a:p>
            <a:pPr lvl="1"/>
            <a:r>
              <a:rPr sz="1700">
                <a:latin typeface="Calibri"/>
              </a:rPr>
              <a:t>CCB Required  |  Readiness Impact  |  Classification/Handling Caveat [placeholder - tailor per command guidance]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Required columns enforced at upload; monthly metadata audit by site owners.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Folders are minimized - filtering and grouping come from metadata views, not folder trees.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  <a:latin typeface="Calibri"/>
              </a:rPr>
              <a:t>Recommended Web Parts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6017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052"/>
                <a:gridCol w="8022122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Web Part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Employment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Hero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Major navigation tiles on Home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Quick 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Key workflows: submit intake, open trackers, get templates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Document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Controlled document access via named views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Action items, risks, and decision log views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Highlighted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Recently updated and high-priority files, automatic by metadata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Modernization updates and announcements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Battle rhythm and CCB calendar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Key POCs by page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Short process guidance blocks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Embed / 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Placeholder for future dashboard integration (tenant approval required)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Forms 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Intake workflow if tenant policy allows; fallback is list new-item form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  <a:latin typeface="Calibri"/>
              </a:rPr>
              <a:t>Page-by-Page Web Part Employment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60173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848"/>
                <a:gridCol w="4813273"/>
                <a:gridCol w="3438052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Web Parts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Content Sources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Hero, News, Events, Quick Links,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News; calendar; directory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Modernization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Highlighted Content, List x2, Embed 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Trackers; risk/action lists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Intake and Change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Quick Links, List, Text, Forms 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Intake list; templates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Configuration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Document Library, List,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Baseline library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Availability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Document Library, List,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Availability tracker; calendar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Risks / Issues /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List x3, Highlighted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Risk and action lists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Governance and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Events, Document Library, Quick 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Meeting records; calendar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Decisions and CCB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List, Document Library,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Decision records (restricted)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Readiness Assessments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Document Library, Highlighted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Readiness products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References and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Document Library, Quick Links,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Templates library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/>
                        <a:t>Lessons Learned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Document Library, Highlighted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Lessons Learned library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  <a:latin typeface="Calibri"/>
              </a:rPr>
              <a:t>Administrative Tool Suite Hosted on the Site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6017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0087"/>
                <a:gridCol w="5730087"/>
              </a:tblGrid>
              <a:tr h="6172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Word Templates (Program Documents / Templates)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Excel Tools (Tracker Library)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/>
                        <a:t>Program Charter; Governance SOP; CCB Charter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Master Modernization Tracker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/>
                        <a:t>Intake Form; Change Evaluation Memorandum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Baseline Configuration Register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/>
                        <a:t>Modernization Readiness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Risk / Issue / Opportunity Register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/>
                        <a:t>Availability Integration Planning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Action Item Tracker; Decision Log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/>
                        <a:t>Stakeholder Engagement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Stakeholder RACI Matrix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/>
                        <a:t>Meeting Minutes; Decision Record; AAR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Availability Integration Tracker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/>
                        <a:t>SharePoint User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Readiness Assessment Workbook; Battle Rhythm Tracker; Content Inventory &amp; Metadata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Workflow Model - Modernization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Intake  &gt;  Triage  &gt;  Stakeholder Review  &gt;  CCB / Decision  &gt;  Schedule Integration  &gt;  Execution  &gt;  Readiness Assessment  &gt;  Lessons Learned  &gt;  Baseline Update</a:t>
            </a:r>
          </a:p>
          <a:p>
            <a:pPr lvl="1"/>
            <a:r>
              <a:rPr sz="1700">
                <a:latin typeface="Calibri"/>
              </a:rPr>
              <a:t>Intake: sponsor submits via Intake page; tracking number assigned.</a:t>
            </a:r>
          </a:p>
          <a:p>
            <a:pPr lvl="1"/>
            <a:r>
              <a:rPr sz="1700">
                <a:latin typeface="Calibri"/>
              </a:rPr>
              <a:t>Triage and review: WIPT coordinates the multi-discipline Change Evaluation Memorandum.</a:t>
            </a:r>
          </a:p>
          <a:p>
            <a:pPr lvl="1"/>
            <a:r>
              <a:rPr sz="1700">
                <a:latin typeface="Calibri"/>
              </a:rPr>
              <a:t>Decision: CCB dispositions; Decision Record filed and logged.</a:t>
            </a:r>
          </a:p>
          <a:p>
            <a:pPr lvl="1"/>
            <a:r>
              <a:rPr sz="1700">
                <a:latin typeface="Calibri"/>
              </a:rPr>
              <a:t>Integration and execution: availability tracker and master tracker drive status.</a:t>
            </a:r>
          </a:p>
          <a:p>
            <a:pPr lvl="1"/>
            <a:r>
              <a:rPr sz="1700">
                <a:latin typeface="Calibri"/>
              </a:rPr>
              <a:t>Closure: readiness assessment gates turnover; AAR feeds process improvement; baseline register updated.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Every stage writes to a SharePoint artifact - the workflow is auditable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Governance Model - How TYCOM and NAVSEA Use the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TYCOM: readiness visibility and decision control.</a:t>
            </a:r>
          </a:p>
          <a:p>
            <a:pPr lvl="1"/>
            <a:r>
              <a:rPr sz="1700">
                <a:latin typeface="Calibri"/>
              </a:rPr>
              <a:t>Readiness Assessments and Dashboard pages support milestone gates and fleet alignment.</a:t>
            </a:r>
          </a:p>
          <a:p>
            <a:pPr lvl="1"/>
            <a:r>
              <a:rPr sz="1700">
                <a:latin typeface="Calibri"/>
              </a:rPr>
              <a:t>CCB membership and decision log give N6/N43 traceable configuration governance.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NAVSEA: integration engineering and configuration alignment.</a:t>
            </a:r>
          </a:p>
          <a:p>
            <a:pPr lvl="1"/>
            <a:r>
              <a:rPr sz="1700">
                <a:latin typeface="Calibri"/>
              </a:rPr>
              <a:t>Baseline register and availability tracker keep alteration and installation posture current.</a:t>
            </a:r>
          </a:p>
          <a:p>
            <a:pPr lvl="1"/>
            <a:r>
              <a:rPr sz="1700">
                <a:latin typeface="Calibri"/>
              </a:rPr>
              <a:t>Work package views synchronize NAVSEA, RMC, and shipyard execution.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Shared: one battle rhythm, one action tracker, one decision log - no parallel bookkeeping.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Chairs enforce the rule: if it is not on the site, it is not the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  <a:latin typeface="Calibri"/>
              </a:rPr>
              <a:t>Permissions and Information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6017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061"/>
                <a:gridCol w="2865043"/>
                <a:gridCol w="458407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Access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Site Owners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Full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2-3 named owners; structure and permissions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TYCOM Editors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All content except restricted records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NAVSEA Editors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All content except restricted records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PEO/PMW 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Trackers, intake, meeting records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Ship Viewers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Unrestricted content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Shipyard/RMC 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Contribute (scoped)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Availability content only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Read-Only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Executive visibility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Restricted Decision Records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Edit (unique permissions)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Decision Records library only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  <a:latin typeface="Calibri"/>
              </a:rPr>
              <a:t>Implementation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6017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052"/>
                <a:gridCol w="5730087"/>
                <a:gridCol w="2292035"/>
              </a:tblGrid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 (Placeholder)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1. Build site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Pages, navigation, permission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1-2]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2. Create libraries/lists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Per Content Inventory workbook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2-3]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3. Apply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Site columns, required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3-4]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4. Upload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Full Word/Excel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4]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5. Configure 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By Hull, Overdue, Pending Decision,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5]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6. Add web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Per Web Part Employment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5-6]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7.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One hull or one availability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7-18]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8. Refine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SOP/CCB updates from pilot 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18-20]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/>
                        <a:t>9. Expand to fleet-level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Onboard remaining hulls;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[Week 20+]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Reduced duplicate trackers: one authoritative tracker per function; retired spreadsheets archived.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Improved decision traceability: 100% of decisions logged with record, authority, and follow-on actions.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Faster modernization status reporting: monthly report built from live views, not data calls.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Clear action ownership: zero unowned actions; overdue rate visible and trending down.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Better configuration visibility: installed-vs-documented baseline current for every hull.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Improved readiness assessment consistency: common criteria bank used at every gate.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Stronger NAVSEA/TYCOM coordination: shared battle rhythm and single source of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1. Approve this design brief and designate 2-3 site owners.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2. Confirm tenant policy on Forms and Power BI web parts.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3. Stand up the site shell and permission groups (Phase 1).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4. Build libraries, lists, and metadata per the Content Inventory and Metadata Plan workbook (Phases 2-3).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5. Upload the administrative tool suite and configure views (Phases 4-5).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6. Assemble pages per the Web Part Employment Matrix (Phase 6).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7. Select the pilot: [CVN-XX] [PIA FY2X placeholder] entering its planning window; run one full intake-to-decision cycle.</a:t>
            </a:r>
          </a:p>
          <a:p>
            <a:pPr/>
            <a:r>
              <a:rPr sz="2000">
                <a:solidFill>
                  <a:srgbClr val="1F3A5F"/>
                </a:solidFill>
                <a:latin typeface="Calibri"/>
              </a:rPr>
              <a:t>8. Hold a pilot AAR at [pilot + 90 days]; refine and expand fleet-wide.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DRAFT - UNCLASSIFIED - TEMPLATE / PLACEHOLDER CONTENT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